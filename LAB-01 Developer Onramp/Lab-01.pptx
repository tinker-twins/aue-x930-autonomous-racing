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4"/>
  </p:notesMasterIdLst>
  <p:sldIdLst>
    <p:sldId id="978" r:id="rId5"/>
    <p:sldId id="993" r:id="rId6"/>
    <p:sldId id="979" r:id="rId7"/>
    <p:sldId id="976" r:id="rId8"/>
    <p:sldId id="996" r:id="rId9"/>
    <p:sldId id="981" r:id="rId10"/>
    <p:sldId id="997" r:id="rId11"/>
    <p:sldId id="987" r:id="rId12"/>
    <p:sldId id="992" r:id="rId13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FFFF"/>
    <a:srgbClr val="000000"/>
    <a:srgbClr val="7030A0"/>
    <a:srgbClr val="865640"/>
    <a:srgbClr val="BD582C"/>
    <a:srgbClr val="E48312"/>
    <a:srgbClr val="898989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91" d="100"/>
          <a:sy n="91" d="100"/>
        </p:scale>
        <p:origin x="772" y="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August 26,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August 26,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August 26,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August 26,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August 26,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August 26,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August 26,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August 26,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Linux-101.m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Git-101.m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Docker-101.m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LAB-01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Developer Onramp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FD470-6EAE-E360-A0CE-7F30D89F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295A7-1152-B937-2F42-2DEAA1E9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D8DE9-E68E-7861-C301-F7973F8B0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Development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Linux (Ubuntu 22.04)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Windows Subsystem for Linux (WSL 2)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Version Control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Containerization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Develop, collaborate, package &amp; deploy seamlessly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D6294-8365-40EE-175A-6E53CC33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80128-1037-D53A-CFD9-C6896FA5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FA7712-F4A6-C040-AFE4-1F5C1663B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8FB216-3513-060A-7DBC-0266E995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509" y="2266950"/>
            <a:ext cx="1539394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1E99C-4B17-15CB-F0E8-9270388B4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2701" y="4095750"/>
            <a:ext cx="2320119" cy="182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BA650E-A1EE-9FD6-8247-2516F803A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367" y="144036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82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152D-761E-C7AA-9698-5C9B4703F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11AD9-931F-CD74-FF8E-1AC31BB3C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D2F8D-3A96-8A40-D9C0-19DAFA21A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F547B5C-B20F-B337-7360-5004BB5F4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307B7BD-35D4-E8CB-802B-AE371B692688}"/>
              </a:ext>
            </a:extLst>
          </p:cNvPr>
          <p:cNvGrpSpPr/>
          <p:nvPr/>
        </p:nvGrpSpPr>
        <p:grpSpPr>
          <a:xfrm>
            <a:off x="3721910" y="2205548"/>
            <a:ext cx="4748179" cy="927902"/>
            <a:chOff x="3067960" y="2207727"/>
            <a:chExt cx="4748179" cy="9279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FEDB1FD-1822-FEA9-1B80-1C2ACB06FF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67960" y="2207727"/>
              <a:ext cx="77739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831A3C-B61A-AE4F-AC30-8C5639381578}"/>
                </a:ext>
              </a:extLst>
            </p:cNvPr>
            <p:cNvSpPr txBox="1"/>
            <p:nvPr/>
          </p:nvSpPr>
          <p:spPr>
            <a:xfrm>
              <a:off x="4197841" y="2212299"/>
              <a:ext cx="361829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Linux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2905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5EAE5-0900-6012-480C-5430C149A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27DCE-A957-0B11-4084-BA9342CA0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Meet the terminal</a:t>
            </a:r>
          </a:p>
          <a:p>
            <a:r>
              <a:rPr lang="en-US" dirty="0">
                <a:latin typeface="Consolas" panose="020B0609020204030204" pitchFamily="49" charset="0"/>
              </a:rPr>
              <a:t>Understand the filesystem</a:t>
            </a:r>
          </a:p>
          <a:p>
            <a:r>
              <a:rPr lang="en-US" dirty="0">
                <a:latin typeface="Consolas" panose="020B0609020204030204" pitchFamily="49" charset="0"/>
              </a:rPr>
              <a:t>Edit text in the terminal</a:t>
            </a:r>
          </a:p>
          <a:p>
            <a:r>
              <a:rPr lang="en-US" dirty="0">
                <a:latin typeface="Consolas" panose="020B0609020204030204" pitchFamily="49" charset="0"/>
              </a:rPr>
              <a:t>Manage permissions</a:t>
            </a:r>
          </a:p>
          <a:p>
            <a:r>
              <a:rPr lang="en-US" dirty="0">
                <a:latin typeface="Consolas" panose="020B0609020204030204" pitchFamily="49" charset="0"/>
              </a:rPr>
              <a:t>Manage packages</a:t>
            </a:r>
          </a:p>
          <a:p>
            <a:r>
              <a:rPr lang="en-US" dirty="0">
                <a:latin typeface="Consolas" panose="020B0609020204030204" pitchFamily="49" charset="0"/>
              </a:rPr>
              <a:t>Manage processes</a:t>
            </a:r>
          </a:p>
          <a:p>
            <a:r>
              <a:rPr lang="en-US" dirty="0">
                <a:latin typeface="Consolas" panose="020B0609020204030204" pitchFamily="49" charset="0"/>
              </a:rPr>
              <a:t>Getting help</a:t>
            </a:r>
          </a:p>
        </p:txBody>
      </p:sp>
      <p:sp>
        <p:nvSpPr>
          <p:cNvPr id="6" name="linux-visual-panel">
            <a:extLst>
              <a:ext uri="{FF2B5EF4-FFF2-40B4-BE49-F238E27FC236}">
                <a16:creationId xmlns:a16="http://schemas.microsoft.com/office/drawing/2014/main" id="{A524451D-C33C-91F0-F94D-C0E5659854A6}"/>
              </a:ext>
            </a:extLst>
          </p:cNvPr>
          <p:cNvSpPr>
            <a:spLocks noGrp="1"/>
          </p:cNvSpPr>
          <p:nvPr/>
        </p:nvSpPr>
        <p:spPr>
          <a:xfrm>
            <a:off x="6191250" y="1000125"/>
            <a:ext cx="5524500" cy="5095875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7" name="docker-command-flow">
            <a:extLst>
              <a:ext uri="{FF2B5EF4-FFF2-40B4-BE49-F238E27FC236}">
                <a16:creationId xmlns:a16="http://schemas.microsoft.com/office/drawing/2014/main" id="{36D4BBCF-1537-14CE-7841-6E5653F3B7D5}"/>
              </a:ext>
            </a:extLst>
          </p:cNvPr>
          <p:cNvSpPr>
            <a:spLocks noGrp="1"/>
          </p:cNvSpPr>
          <p:nvPr/>
        </p:nvSpPr>
        <p:spPr>
          <a:xfrm>
            <a:off x="6429375" y="4000500"/>
            <a:ext cx="5048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D8CC9"/>
                </a:solidFill>
              </a:defRPr>
            </a:pPr>
            <a:r>
              <a:rPr lang="en-US" sz="1200" b="1" dirty="0" err="1">
                <a:solidFill>
                  <a:srgbClr val="F16122"/>
                </a:solidFill>
                <a:latin typeface="Consolas" panose="020B0609020204030204" pitchFamily="49" charset="0"/>
              </a:rPr>
              <a:t>whoami</a:t>
            </a:r>
            <a:r>
              <a:rPr lang="en-US"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  →  pwd</a:t>
            </a: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  →  </a:t>
            </a:r>
            <a:r>
              <a:rPr lang="en-US"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ls</a:t>
            </a:r>
            <a:endParaRPr sz="1200" b="1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9AFEE8-1350-CB4D-8C09-296C38BB9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Meet Linux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97225-2FFA-76E4-0241-604F1A2E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B098C7-4357-66AE-E8A2-F77F4E424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6A4D7D-453C-9D00-37A9-7A76AB9F6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sp>
        <p:nvSpPr>
          <p:cNvPr id="7" name="linux-visual-panel-title">
            <a:extLst>
              <a:ext uri="{FF2B5EF4-FFF2-40B4-BE49-F238E27FC236}">
                <a16:creationId xmlns:a16="http://schemas.microsoft.com/office/drawing/2014/main" id="{6875233B-FD32-14F4-D7D8-55CE33FED17F}"/>
              </a:ext>
            </a:extLst>
          </p:cNvPr>
          <p:cNvSpPr>
            <a:spLocks noGrp="1"/>
          </p:cNvSpPr>
          <p:nvPr/>
        </p:nvSpPr>
        <p:spPr>
          <a:xfrm>
            <a:off x="6457950" y="1171575"/>
            <a:ext cx="4991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15A24"/>
                </a:solidFill>
              </a:defRPr>
            </a:pPr>
            <a:r>
              <a:rPr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Linux </a:t>
            </a:r>
            <a:r>
              <a:rPr lang="en-US"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makes a developer’s life easy</a:t>
            </a:r>
            <a:endParaRPr sz="1650" b="1" dirty="0">
              <a:solidFill>
                <a:srgbClr val="F15A2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linux-terminal">
            <a:extLst>
              <a:ext uri="{FF2B5EF4-FFF2-40B4-BE49-F238E27FC236}">
                <a16:creationId xmlns:a16="http://schemas.microsoft.com/office/drawing/2014/main" id="{9ECDAF37-D952-95AA-E55F-2768F7860CE1}"/>
              </a:ext>
            </a:extLst>
          </p:cNvPr>
          <p:cNvSpPr>
            <a:spLocks noGrp="1"/>
          </p:cNvSpPr>
          <p:nvPr/>
        </p:nvSpPr>
        <p:spPr>
          <a:xfrm>
            <a:off x="6477000" y="2095500"/>
            <a:ext cx="1428750" cy="1190625"/>
          </a:xfrm>
          <a:prstGeom prst="roundRect">
            <a:avLst>
              <a:gd name="adj" fmla="val 9600"/>
            </a:avLst>
          </a:prstGeom>
          <a:solidFill>
            <a:srgbClr val="FBF7F3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75" b="1" dirty="0">
                <a:solidFill>
                  <a:srgbClr val="F16122"/>
                </a:solidFill>
                <a:latin typeface="Consolas" panose="020B0609020204030204" pitchFamily="49" charset="0"/>
              </a:rPr>
              <a:t>Terminal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75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Run commands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and inspect output</a:t>
            </a:r>
          </a:p>
        </p:txBody>
      </p:sp>
      <p:sp>
        <p:nvSpPr>
          <p:cNvPr id="10" name="linux-filesystem">
            <a:extLst>
              <a:ext uri="{FF2B5EF4-FFF2-40B4-BE49-F238E27FC236}">
                <a16:creationId xmlns:a16="http://schemas.microsoft.com/office/drawing/2014/main" id="{BBD9CAE3-2607-6FD5-A113-AFB374F5163F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1428750" cy="1190625"/>
          </a:xfrm>
          <a:prstGeom prst="roundRect">
            <a:avLst>
              <a:gd name="adj" fmla="val 9600"/>
            </a:avLst>
          </a:prstGeom>
          <a:solidFill>
            <a:srgbClr val="F1F1F1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75" b="1" dirty="0">
                <a:solidFill>
                  <a:srgbClr val="F16122"/>
                </a:solidFill>
                <a:latin typeface="Consolas" panose="020B0609020204030204" pitchFamily="49" charset="0"/>
              </a:rPr>
              <a:t>Filesystem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75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Navigate paths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and manage files</a:t>
            </a:r>
          </a:p>
        </p:txBody>
      </p:sp>
      <p:sp>
        <p:nvSpPr>
          <p:cNvPr id="11" name="linux-system">
            <a:extLst>
              <a:ext uri="{FF2B5EF4-FFF2-40B4-BE49-F238E27FC236}">
                <a16:creationId xmlns:a16="http://schemas.microsoft.com/office/drawing/2014/main" id="{9868D300-4881-9A66-0F2C-F68AE4BB3D7B}"/>
              </a:ext>
            </a:extLst>
          </p:cNvPr>
          <p:cNvSpPr>
            <a:spLocks noGrp="1"/>
          </p:cNvSpPr>
          <p:nvPr/>
        </p:nvSpPr>
        <p:spPr>
          <a:xfrm>
            <a:off x="9715500" y="2095500"/>
            <a:ext cx="1428750" cy="1190625"/>
          </a:xfrm>
          <a:prstGeom prst="roundRect">
            <a:avLst>
              <a:gd name="adj" fmla="val 9600"/>
            </a:avLst>
          </a:prstGeom>
          <a:solidFill>
            <a:srgbClr val="F3F8FB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75" b="1" dirty="0">
                <a:solidFill>
                  <a:srgbClr val="F16122"/>
                </a:solidFill>
                <a:latin typeface="Consolas" panose="020B0609020204030204" pitchFamily="49" charset="0"/>
              </a:rPr>
              <a:t>System tools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75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Permissions, packages,</a:t>
            </a:r>
            <a:r>
              <a:rPr lang="en-US" sz="1200" dirty="0">
                <a:solidFill>
                  <a:srgbClr val="3E3E3E"/>
                </a:solidFill>
                <a:latin typeface="Consolas" panose="020B0609020204030204" pitchFamily="49" charset="0"/>
              </a:rPr>
              <a:t> and</a:t>
            </a:r>
            <a:endParaRPr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processes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76128C-71DE-B60B-FE98-A76954F8052A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7905750" y="2690813"/>
            <a:ext cx="190500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FDDDF1-54C2-4026-00E7-90D2F7E0A34C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9525000" y="2690813"/>
            <a:ext cx="190500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" name="linux-example-copy">
            <a:extLst>
              <a:ext uri="{FF2B5EF4-FFF2-40B4-BE49-F238E27FC236}">
                <a16:creationId xmlns:a16="http://schemas.microsoft.com/office/drawing/2014/main" id="{D8AA68D1-CC9D-9A8D-A0FE-FD3A87F1D8A6}"/>
              </a:ext>
            </a:extLst>
          </p:cNvPr>
          <p:cNvSpPr>
            <a:spLocks noGrp="1"/>
          </p:cNvSpPr>
          <p:nvPr/>
        </p:nvSpPr>
        <p:spPr>
          <a:xfrm>
            <a:off x="6667500" y="4524375"/>
            <a:ext cx="4572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0">
                <a:solidFill>
                  <a:srgbClr val="888888"/>
                </a:solidFill>
              </a:defRPr>
            </a:pPr>
            <a:r>
              <a:rPr sz="1200" b="0" dirty="0">
                <a:solidFill>
                  <a:srgbClr val="888888"/>
                </a:solidFill>
                <a:latin typeface="Consolas" panose="020B0609020204030204" pitchFamily="49" charset="0"/>
              </a:rPr>
              <a:t>Small commands build a reliable picture of where you are and what is happening.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AF647CD-3D2F-BEE2-4DBA-48515F4C8CC5}"/>
              </a:ext>
            </a:extLst>
          </p:cNvPr>
          <p:cNvGrpSpPr/>
          <p:nvPr/>
        </p:nvGrpSpPr>
        <p:grpSpPr>
          <a:xfrm>
            <a:off x="7363921" y="5364099"/>
            <a:ext cx="3179158" cy="493776"/>
            <a:chOff x="4484791" y="2669499"/>
            <a:chExt cx="3179158" cy="4937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BE64D47-F3E2-858D-3907-BA6B2939443B}"/>
                </a:ext>
              </a:extLst>
            </p:cNvPr>
            <p:cNvSpPr txBox="1"/>
            <p:nvPr/>
          </p:nvSpPr>
          <p:spPr>
            <a:xfrm>
              <a:off x="5286375" y="2669499"/>
              <a:ext cx="2377574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>
                  <a:latin typeface="Consolas" panose="020B0609020204030204" pitchFamily="49" charset="0"/>
                  <a:hlinkClick r:id="rId3" action="ppaction://hlinkfile"/>
                </a:rPr>
                <a:t>Linux-101.md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20" name="Picture 19" descr="File:Markdown-mark.svg">
              <a:extLst>
                <a:ext uri="{FF2B5EF4-FFF2-40B4-BE49-F238E27FC236}">
                  <a16:creationId xmlns:a16="http://schemas.microsoft.com/office/drawing/2014/main" id="{0CE50076-0AD3-5FA8-E407-1BF7E133E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92262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6011-F8D6-1A75-7715-F333C243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08826-AB18-8352-406B-376FBD0FF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D0067E-73B1-DE51-EDE2-86599BFB6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1CDF065-57FE-2FC3-9C22-60BFC2AC9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1BB82EF-5268-724E-F815-D5277718C949}"/>
              </a:ext>
            </a:extLst>
          </p:cNvPr>
          <p:cNvGrpSpPr/>
          <p:nvPr/>
        </p:nvGrpSpPr>
        <p:grpSpPr>
          <a:xfrm>
            <a:off x="4066887" y="2205548"/>
            <a:ext cx="4058225" cy="927902"/>
            <a:chOff x="3648835" y="2205548"/>
            <a:chExt cx="4058225" cy="92790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B5519CC-BC87-2EEE-77C3-B3E99F7AC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8835" y="2205548"/>
              <a:ext cx="92354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1798BC-0ED3-CF5D-587A-EECC4B894BAF}"/>
                </a:ext>
              </a:extLst>
            </p:cNvPr>
            <p:cNvSpPr txBox="1"/>
            <p:nvPr/>
          </p:nvSpPr>
          <p:spPr>
            <a:xfrm>
              <a:off x="4851791" y="2210120"/>
              <a:ext cx="285526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Git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8103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1F6C3-C8EA-2593-DE0C-8F3464D3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550FA-647D-7CFE-88FE-8D5F2E9F3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Meet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402D2-C898-9871-C962-CF7E17966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Install and configure Git</a:t>
            </a:r>
          </a:p>
          <a:p>
            <a:r>
              <a:rPr lang="en-US" dirty="0">
                <a:latin typeface="Consolas" panose="020B0609020204030204" pitchFamily="49" charset="0"/>
              </a:rPr>
              <a:t>Create a local repository</a:t>
            </a:r>
          </a:p>
          <a:p>
            <a:r>
              <a:rPr lang="en-US" dirty="0">
                <a:latin typeface="Consolas" panose="020B0609020204030204" pitchFamily="49" charset="0"/>
              </a:rPr>
              <a:t>Inspect and correct changes</a:t>
            </a:r>
          </a:p>
          <a:p>
            <a:r>
              <a:rPr lang="en-US" dirty="0">
                <a:latin typeface="Consolas" panose="020B0609020204030204" pitchFamily="49" charset="0"/>
              </a:rPr>
              <a:t>Branches</a:t>
            </a:r>
          </a:p>
          <a:p>
            <a:r>
              <a:rPr lang="en-US" dirty="0">
                <a:latin typeface="Consolas" panose="020B0609020204030204" pitchFamily="49" charset="0"/>
              </a:rPr>
              <a:t>Connect to GitHub</a:t>
            </a:r>
          </a:p>
          <a:p>
            <a:r>
              <a:rPr lang="en-US" dirty="0">
                <a:latin typeface="Consolas" panose="020B0609020204030204" pitchFamily="49" charset="0"/>
              </a:rPr>
              <a:t>Everyday collaboration workflow</a:t>
            </a:r>
          </a:p>
          <a:p>
            <a:r>
              <a:rPr lang="en-US" dirty="0">
                <a:latin typeface="Consolas" panose="020B0609020204030204" pitchFamily="49" charset="0"/>
              </a:rPr>
              <a:t>Resolve a merge conflict</a:t>
            </a:r>
          </a:p>
          <a:p>
            <a:r>
              <a:rPr lang="en-US" dirty="0">
                <a:latin typeface="Consolas" panose="020B0609020204030204" pitchFamily="49" charset="0"/>
              </a:rPr>
              <a:t>Useful history commands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08880-BB30-14ED-9F44-08C6E0031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BE9A1B-203D-0457-4782-8BB3391AF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8B6EAC-6C88-6E43-735C-5B985BA43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sp>
        <p:nvSpPr>
          <p:cNvPr id="6" name="git-visual-panel">
            <a:extLst>
              <a:ext uri="{FF2B5EF4-FFF2-40B4-BE49-F238E27FC236}">
                <a16:creationId xmlns:a16="http://schemas.microsoft.com/office/drawing/2014/main" id="{3526ABD8-CB78-C49C-077D-A821B6F412A1}"/>
              </a:ext>
            </a:extLst>
          </p:cNvPr>
          <p:cNvSpPr>
            <a:spLocks noGrp="1"/>
          </p:cNvSpPr>
          <p:nvPr/>
        </p:nvSpPr>
        <p:spPr>
          <a:xfrm>
            <a:off x="6191250" y="1000125"/>
            <a:ext cx="5524500" cy="5095875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8" name="git-visual-panel-title">
            <a:extLst>
              <a:ext uri="{FF2B5EF4-FFF2-40B4-BE49-F238E27FC236}">
                <a16:creationId xmlns:a16="http://schemas.microsoft.com/office/drawing/2014/main" id="{67782D22-08DA-662F-999C-31A9A1BDF75E}"/>
              </a:ext>
            </a:extLst>
          </p:cNvPr>
          <p:cNvSpPr>
            <a:spLocks noGrp="1"/>
          </p:cNvSpPr>
          <p:nvPr/>
        </p:nvSpPr>
        <p:spPr>
          <a:xfrm>
            <a:off x="6457950" y="1171575"/>
            <a:ext cx="4991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15A24"/>
                </a:solidFill>
              </a:defRPr>
            </a:pPr>
            <a:r>
              <a:rPr sz="1650" b="1">
                <a:solidFill>
                  <a:srgbClr val="F15A24"/>
                </a:solidFill>
                <a:latin typeface="Consolas" panose="020B0609020204030204" pitchFamily="49" charset="0"/>
              </a:rPr>
              <a:t>Git turns edits into shareable history</a:t>
            </a:r>
          </a:p>
        </p:txBody>
      </p:sp>
      <p:sp>
        <p:nvSpPr>
          <p:cNvPr id="9" name="git-working-tree">
            <a:extLst>
              <a:ext uri="{FF2B5EF4-FFF2-40B4-BE49-F238E27FC236}">
                <a16:creationId xmlns:a16="http://schemas.microsoft.com/office/drawing/2014/main" id="{AB67EBA9-097E-1068-DB28-41CFC0477629}"/>
              </a:ext>
            </a:extLst>
          </p:cNvPr>
          <p:cNvSpPr>
            <a:spLocks noGrp="1"/>
          </p:cNvSpPr>
          <p:nvPr/>
        </p:nvSpPr>
        <p:spPr>
          <a:xfrm>
            <a:off x="6334125" y="2095500"/>
            <a:ext cx="1190625" cy="1285875"/>
          </a:xfrm>
          <a:prstGeom prst="roundRect">
            <a:avLst>
              <a:gd name="adj" fmla="val 9600"/>
            </a:avLst>
          </a:prstGeom>
          <a:solidFill>
            <a:srgbClr val="FBF7F3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Working </a:t>
            </a:r>
            <a:r>
              <a:rPr lang="en-US"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T</a:t>
            </a: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ree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Edit files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locally</a:t>
            </a:r>
          </a:p>
        </p:txBody>
      </p:sp>
      <p:sp>
        <p:nvSpPr>
          <p:cNvPr id="10" name="git-staging">
            <a:extLst>
              <a:ext uri="{FF2B5EF4-FFF2-40B4-BE49-F238E27FC236}">
                <a16:creationId xmlns:a16="http://schemas.microsoft.com/office/drawing/2014/main" id="{119E393F-1431-068B-860F-A79179EC1322}"/>
              </a:ext>
            </a:extLst>
          </p:cNvPr>
          <p:cNvSpPr>
            <a:spLocks noGrp="1"/>
          </p:cNvSpPr>
          <p:nvPr/>
        </p:nvSpPr>
        <p:spPr>
          <a:xfrm>
            <a:off x="7667625" y="2095500"/>
            <a:ext cx="1190625" cy="1285875"/>
          </a:xfrm>
          <a:prstGeom prst="roundRect">
            <a:avLst>
              <a:gd name="adj" fmla="val 9600"/>
            </a:avLst>
          </a:prstGeom>
          <a:solidFill>
            <a:srgbClr val="F1F1F1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Staging </a:t>
            </a:r>
            <a:r>
              <a:rPr lang="en-US"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A</a:t>
            </a: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rea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Select the exact</a:t>
            </a:r>
            <a:r>
              <a:rPr lang="en-US" sz="1200" dirty="0">
                <a:solidFill>
                  <a:srgbClr val="3E3E3E"/>
                </a:solidFill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next snapshot</a:t>
            </a:r>
          </a:p>
        </p:txBody>
      </p:sp>
      <p:sp>
        <p:nvSpPr>
          <p:cNvPr id="11" name="git-history">
            <a:extLst>
              <a:ext uri="{FF2B5EF4-FFF2-40B4-BE49-F238E27FC236}">
                <a16:creationId xmlns:a16="http://schemas.microsoft.com/office/drawing/2014/main" id="{B5EA74BF-E09B-2576-6EC4-038587C8842B}"/>
              </a:ext>
            </a:extLst>
          </p:cNvPr>
          <p:cNvSpPr>
            <a:spLocks noGrp="1"/>
          </p:cNvSpPr>
          <p:nvPr/>
        </p:nvSpPr>
        <p:spPr>
          <a:xfrm>
            <a:off x="9001125" y="2095500"/>
            <a:ext cx="1190625" cy="1285875"/>
          </a:xfrm>
          <a:prstGeom prst="roundRect">
            <a:avLst>
              <a:gd name="adj" fmla="val 9600"/>
            </a:avLst>
          </a:prstGeom>
          <a:solidFill>
            <a:srgbClr val="F3F8FB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Commit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Save a focused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checkpoint</a:t>
            </a:r>
          </a:p>
        </p:txBody>
      </p:sp>
      <p:sp>
        <p:nvSpPr>
          <p:cNvPr id="12" name="git-remote">
            <a:extLst>
              <a:ext uri="{FF2B5EF4-FFF2-40B4-BE49-F238E27FC236}">
                <a16:creationId xmlns:a16="http://schemas.microsoft.com/office/drawing/2014/main" id="{CED40351-34B5-B06B-8754-F0D069879402}"/>
              </a:ext>
            </a:extLst>
          </p:cNvPr>
          <p:cNvSpPr>
            <a:spLocks noGrp="1"/>
          </p:cNvSpPr>
          <p:nvPr/>
        </p:nvSpPr>
        <p:spPr>
          <a:xfrm>
            <a:off x="10334625" y="2095500"/>
            <a:ext cx="1190625" cy="1285875"/>
          </a:xfrm>
          <a:prstGeom prst="roundRect">
            <a:avLst>
              <a:gd name="adj" fmla="val 9600"/>
            </a:avLst>
          </a:prstGeom>
          <a:solidFill>
            <a:srgbClr val="F6F3FB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Remote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Share and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collaborate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62D80-4C02-0478-5B29-E82AC475502E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7524750" y="2738438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0A6E43C-8E74-BA49-8604-779DEBF40DC3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858250" y="2738438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B25A9E-AC16-DE76-9668-8D351C027624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0191750" y="2738438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" name="git-command-flow">
            <a:extLst>
              <a:ext uri="{FF2B5EF4-FFF2-40B4-BE49-F238E27FC236}">
                <a16:creationId xmlns:a16="http://schemas.microsoft.com/office/drawing/2014/main" id="{1A4522E0-1FDA-1F02-DE98-EAF6AE7511B1}"/>
              </a:ext>
            </a:extLst>
          </p:cNvPr>
          <p:cNvSpPr>
            <a:spLocks noGrp="1"/>
          </p:cNvSpPr>
          <p:nvPr/>
        </p:nvSpPr>
        <p:spPr>
          <a:xfrm>
            <a:off x="6477000" y="40005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D8CC9"/>
                </a:solidFill>
              </a:defRPr>
            </a:pPr>
            <a:r>
              <a:rPr sz="1275" b="1" dirty="0">
                <a:solidFill>
                  <a:srgbClr val="F16122"/>
                </a:solidFill>
                <a:latin typeface="Consolas" panose="020B0609020204030204" pitchFamily="49" charset="0"/>
              </a:rPr>
              <a:t>git add  →  git commit  →  git push</a:t>
            </a:r>
          </a:p>
        </p:txBody>
      </p:sp>
      <p:sp>
        <p:nvSpPr>
          <p:cNvPr id="17" name="git-branch-note">
            <a:extLst>
              <a:ext uri="{FF2B5EF4-FFF2-40B4-BE49-F238E27FC236}">
                <a16:creationId xmlns:a16="http://schemas.microsoft.com/office/drawing/2014/main" id="{E677B206-C51D-9A54-D7C7-6EC595740AE7}"/>
              </a:ext>
            </a:extLst>
          </p:cNvPr>
          <p:cNvSpPr>
            <a:spLocks noGrp="1"/>
          </p:cNvSpPr>
          <p:nvPr/>
        </p:nvSpPr>
        <p:spPr>
          <a:xfrm>
            <a:off x="6572250" y="4524375"/>
            <a:ext cx="4762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0">
                <a:solidFill>
                  <a:srgbClr val="888888"/>
                </a:solidFill>
              </a:defRPr>
            </a:pPr>
            <a:r>
              <a:rPr sz="1200" b="0" dirty="0">
                <a:solidFill>
                  <a:srgbClr val="888888"/>
                </a:solidFill>
                <a:latin typeface="Consolas" panose="020B0609020204030204" pitchFamily="49" charset="0"/>
              </a:rPr>
              <a:t>Branches let you isolate experiments before merging them into the main line.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AACED94-4186-10BA-C99B-79C1A588775C}"/>
              </a:ext>
            </a:extLst>
          </p:cNvPr>
          <p:cNvGrpSpPr/>
          <p:nvPr/>
        </p:nvGrpSpPr>
        <p:grpSpPr>
          <a:xfrm>
            <a:off x="7546663" y="5424810"/>
            <a:ext cx="2813673" cy="493776"/>
            <a:chOff x="4484791" y="2669499"/>
            <a:chExt cx="2813673" cy="4937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845725-A170-0127-A4D1-A6A3711A3DEE}"/>
                </a:ext>
              </a:extLst>
            </p:cNvPr>
            <p:cNvSpPr txBox="1"/>
            <p:nvPr/>
          </p:nvSpPr>
          <p:spPr>
            <a:xfrm>
              <a:off x="5286375" y="2669499"/>
              <a:ext cx="2012089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>
                  <a:latin typeface="Consolas" panose="020B0609020204030204" pitchFamily="49" charset="0"/>
                  <a:hlinkClick r:id="rId3" action="ppaction://hlinkfile"/>
                </a:rPr>
                <a:t>Git-101.md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20" name="Picture 19" descr="File:Markdown-mark.svg">
              <a:extLst>
                <a:ext uri="{FF2B5EF4-FFF2-40B4-BE49-F238E27FC236}">
                  <a16:creationId xmlns:a16="http://schemas.microsoft.com/office/drawing/2014/main" id="{D18B3182-406A-4042-70C7-B5559E5EF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966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52BB-472C-6DC9-61C6-98B001A6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BA55586-B9E1-C9CD-3973-5B1967E15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829" y="2205548"/>
            <a:ext cx="1171660" cy="92354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779D-E629-0EE6-ABF3-3B72C396F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ED2D0-1772-CD72-9580-4710B9DB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F406D0-00F1-5098-EF3F-F5A7D3E72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EECBB6-2B79-634B-6CDA-889F5A6BF50D}"/>
              </a:ext>
            </a:extLst>
          </p:cNvPr>
          <p:cNvSpPr txBox="1"/>
          <p:nvPr/>
        </p:nvSpPr>
        <p:spPr>
          <a:xfrm>
            <a:off x="5269843" y="2210120"/>
            <a:ext cx="39998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Docker 101</a:t>
            </a:r>
          </a:p>
        </p:txBody>
      </p:sp>
    </p:spTree>
    <p:extLst>
      <p:ext uri="{BB962C8B-B14F-4D97-AF65-F5344CB8AC3E}">
        <p14:creationId xmlns:p14="http://schemas.microsoft.com/office/powerpoint/2010/main" val="3691639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D0F2D-EB2E-133E-C384-2CD5CE47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CE72-865B-BA78-C70A-8328D5F46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Meet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3B7F4-2783-E5F3-E75E-A5943E2C3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Install and configure Docker</a:t>
            </a:r>
          </a:p>
          <a:p>
            <a:r>
              <a:rPr lang="en-US" dirty="0">
                <a:latin typeface="Consolas" panose="020B0609020204030204" pitchFamily="49" charset="0"/>
              </a:rPr>
              <a:t>Run containers</a:t>
            </a:r>
          </a:p>
          <a:p>
            <a:r>
              <a:rPr lang="en-US" dirty="0">
                <a:latin typeface="Consolas" panose="020B0609020204030204" pitchFamily="49" charset="0"/>
              </a:rPr>
              <a:t>Container lifecycle</a:t>
            </a:r>
          </a:p>
          <a:p>
            <a:r>
              <a:rPr lang="en-US" dirty="0">
                <a:latin typeface="Consolas" panose="020B0609020204030204" pitchFamily="49" charset="0"/>
              </a:rPr>
              <a:t>Images</a:t>
            </a:r>
          </a:p>
          <a:p>
            <a:r>
              <a:rPr lang="en-US" dirty="0">
                <a:latin typeface="Consolas" panose="020B0609020204030204" pitchFamily="49" charset="0"/>
              </a:rPr>
              <a:t>Bind mounts and volumes</a:t>
            </a:r>
          </a:p>
          <a:p>
            <a:r>
              <a:rPr lang="en-US" dirty="0">
                <a:latin typeface="Consolas" panose="020B0609020204030204" pitchFamily="49" charset="0"/>
              </a:rPr>
              <a:t>Port mapping</a:t>
            </a:r>
          </a:p>
          <a:p>
            <a:r>
              <a:rPr lang="en-US" dirty="0">
                <a:latin typeface="Consolas" panose="020B0609020204030204" pitchFamily="49" charset="0"/>
              </a:rPr>
              <a:t>Build an image with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Connect to Docker Hub</a:t>
            </a:r>
          </a:p>
          <a:p>
            <a:r>
              <a:rPr lang="en-US" dirty="0">
                <a:latin typeface="Consolas" panose="020B0609020204030204" pitchFamily="49" charset="0"/>
              </a:rPr>
              <a:t>Environment variables</a:t>
            </a:r>
          </a:p>
          <a:p>
            <a:r>
              <a:rPr lang="en-US" dirty="0">
                <a:latin typeface="Consolas" panose="020B0609020204030204" pitchFamily="49" charset="0"/>
              </a:rPr>
              <a:t>Resource limits</a:t>
            </a:r>
          </a:p>
          <a:p>
            <a:r>
              <a:rPr lang="en-US" dirty="0">
                <a:latin typeface="Consolas" panose="020B0609020204030204" pitchFamily="49" charset="0"/>
              </a:rPr>
              <a:t>Clean up safely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9C56-1191-7BFA-1C52-8E268B0EC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A29CA4-F392-5BCE-88E3-7E41FC53D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ADC8AE-9012-F7B9-A645-BFA6F3B4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sp>
        <p:nvSpPr>
          <p:cNvPr id="18" name="docker-visual-panel">
            <a:extLst>
              <a:ext uri="{FF2B5EF4-FFF2-40B4-BE49-F238E27FC236}">
                <a16:creationId xmlns:a16="http://schemas.microsoft.com/office/drawing/2014/main" id="{07288711-A9C0-F857-FFFC-A9057E340FB7}"/>
              </a:ext>
            </a:extLst>
          </p:cNvPr>
          <p:cNvSpPr>
            <a:spLocks noGrp="1"/>
          </p:cNvSpPr>
          <p:nvPr/>
        </p:nvSpPr>
        <p:spPr>
          <a:xfrm>
            <a:off x="6191250" y="1000125"/>
            <a:ext cx="5524500" cy="5095875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9" name="docker-visual-panel-title">
            <a:extLst>
              <a:ext uri="{FF2B5EF4-FFF2-40B4-BE49-F238E27FC236}">
                <a16:creationId xmlns:a16="http://schemas.microsoft.com/office/drawing/2014/main" id="{F8BDC6F6-08D9-6EE2-69C9-CB67D0D2627D}"/>
              </a:ext>
            </a:extLst>
          </p:cNvPr>
          <p:cNvSpPr>
            <a:spLocks noGrp="1"/>
          </p:cNvSpPr>
          <p:nvPr/>
        </p:nvSpPr>
        <p:spPr>
          <a:xfrm>
            <a:off x="6457950" y="1171575"/>
            <a:ext cx="4991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15A24"/>
                </a:solidFill>
              </a:defRPr>
            </a:pPr>
            <a:r>
              <a:rPr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Docker </a:t>
            </a:r>
            <a:r>
              <a:rPr lang="en-US"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makes</a:t>
            </a:r>
            <a:r>
              <a:rPr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 the environment</a:t>
            </a:r>
            <a:r>
              <a:rPr lang="en-US" sz="1650" b="1" dirty="0">
                <a:solidFill>
                  <a:srgbClr val="F15A24"/>
                </a:solidFill>
                <a:latin typeface="Consolas" panose="020B0609020204030204" pitchFamily="49" charset="0"/>
              </a:rPr>
              <a:t> portable</a:t>
            </a:r>
            <a:endParaRPr sz="1650" b="1" dirty="0">
              <a:solidFill>
                <a:srgbClr val="F15A24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dockerfile">
            <a:extLst>
              <a:ext uri="{FF2B5EF4-FFF2-40B4-BE49-F238E27FC236}">
                <a16:creationId xmlns:a16="http://schemas.microsoft.com/office/drawing/2014/main" id="{4776E2FB-BA77-A008-9A56-49BF75C53DD4}"/>
              </a:ext>
            </a:extLst>
          </p:cNvPr>
          <p:cNvSpPr>
            <a:spLocks noGrp="1"/>
          </p:cNvSpPr>
          <p:nvPr/>
        </p:nvSpPr>
        <p:spPr>
          <a:xfrm>
            <a:off x="6334125" y="2095500"/>
            <a:ext cx="1190625" cy="1333500"/>
          </a:xfrm>
          <a:prstGeom prst="roundRect">
            <a:avLst>
              <a:gd name="adj" fmla="val 9600"/>
            </a:avLst>
          </a:prstGeom>
          <a:solidFill>
            <a:srgbClr val="FBF7F3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 err="1">
                <a:solidFill>
                  <a:srgbClr val="F16122"/>
                </a:solidFill>
                <a:latin typeface="Consolas" panose="020B0609020204030204" pitchFamily="49" charset="0"/>
              </a:rPr>
              <a:t>Dockerfile</a:t>
            </a:r>
            <a:endParaRPr sz="1200" b="1" dirty="0">
              <a:solidFill>
                <a:srgbClr val="F16122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Build recipe</a:t>
            </a:r>
          </a:p>
        </p:txBody>
      </p:sp>
      <p:sp>
        <p:nvSpPr>
          <p:cNvPr id="21" name="docker-image">
            <a:extLst>
              <a:ext uri="{FF2B5EF4-FFF2-40B4-BE49-F238E27FC236}">
                <a16:creationId xmlns:a16="http://schemas.microsoft.com/office/drawing/2014/main" id="{DD5B0FD6-9E52-7820-A58C-B5B932766D96}"/>
              </a:ext>
            </a:extLst>
          </p:cNvPr>
          <p:cNvSpPr>
            <a:spLocks noGrp="1"/>
          </p:cNvSpPr>
          <p:nvPr/>
        </p:nvSpPr>
        <p:spPr>
          <a:xfrm>
            <a:off x="7667625" y="2095500"/>
            <a:ext cx="1190625" cy="1333500"/>
          </a:xfrm>
          <a:prstGeom prst="roundRect">
            <a:avLst>
              <a:gd name="adj" fmla="val 9600"/>
            </a:avLst>
          </a:prstGeom>
          <a:solidFill>
            <a:srgbClr val="F1F1F1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Image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Read-only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package</a:t>
            </a:r>
          </a:p>
        </p:txBody>
      </p:sp>
      <p:sp>
        <p:nvSpPr>
          <p:cNvPr id="22" name="docker-container">
            <a:extLst>
              <a:ext uri="{FF2B5EF4-FFF2-40B4-BE49-F238E27FC236}">
                <a16:creationId xmlns:a16="http://schemas.microsoft.com/office/drawing/2014/main" id="{D4A6C0DF-BF04-49DE-D712-7FBEC7F94265}"/>
              </a:ext>
            </a:extLst>
          </p:cNvPr>
          <p:cNvSpPr>
            <a:spLocks noGrp="1"/>
          </p:cNvSpPr>
          <p:nvPr/>
        </p:nvSpPr>
        <p:spPr>
          <a:xfrm>
            <a:off x="9001125" y="2095500"/>
            <a:ext cx="1190625" cy="1333500"/>
          </a:xfrm>
          <a:prstGeom prst="roundRect">
            <a:avLst>
              <a:gd name="adj" fmla="val 9600"/>
            </a:avLst>
          </a:prstGeom>
          <a:solidFill>
            <a:srgbClr val="F3F8FB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Running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instance</a:t>
            </a:r>
          </a:p>
        </p:txBody>
      </p:sp>
      <p:sp>
        <p:nvSpPr>
          <p:cNvPr id="23" name="docker-registry">
            <a:extLst>
              <a:ext uri="{FF2B5EF4-FFF2-40B4-BE49-F238E27FC236}">
                <a16:creationId xmlns:a16="http://schemas.microsoft.com/office/drawing/2014/main" id="{211EFE47-7512-6C51-E68F-07A92CC22EB6}"/>
              </a:ext>
            </a:extLst>
          </p:cNvPr>
          <p:cNvSpPr>
            <a:spLocks noGrp="1"/>
          </p:cNvSpPr>
          <p:nvPr/>
        </p:nvSpPr>
        <p:spPr>
          <a:xfrm>
            <a:off x="10334625" y="2095500"/>
            <a:ext cx="1190625" cy="1333500"/>
          </a:xfrm>
          <a:prstGeom prst="roundRect">
            <a:avLst>
              <a:gd name="adj" fmla="val 9600"/>
            </a:avLst>
          </a:prstGeom>
          <a:solidFill>
            <a:srgbClr val="F6F3FB"/>
          </a:solidFill>
          <a:ln w="14288">
            <a:solidFill>
              <a:srgbClr val="F15A24"/>
            </a:solidFill>
            <a:prstDash val="solid"/>
          </a:ln>
        </p:spPr>
        <p:txBody>
          <a:bodyPr/>
          <a:lstStyle/>
          <a:p>
            <a:pPr algn="ctr">
              <a:defRPr sz="1275">
                <a:solidFill>
                  <a:srgbClr val="3E3E3E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Registry</a:t>
            </a: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 algn="ctr">
              <a:defRPr sz="1275">
                <a:solidFill>
                  <a:srgbClr val="3E3E3E"/>
                </a:solidFill>
              </a:defRPr>
            </a:pPr>
            <a:endParaRPr lang="en-US" sz="1200" dirty="0">
              <a:solidFill>
                <a:srgbClr val="3E3E3E"/>
              </a:solidFill>
              <a:latin typeface="Consolas" panose="020B0609020204030204" pitchFamily="49" charset="0"/>
            </a:endParaRP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Share</a:t>
            </a:r>
          </a:p>
          <a:p>
            <a:pPr>
              <a:defRPr sz="1275">
                <a:solidFill>
                  <a:srgbClr val="3E3E3E"/>
                </a:solidFill>
              </a:defRPr>
            </a:pPr>
            <a:r>
              <a:rPr sz="1200" dirty="0">
                <a:solidFill>
                  <a:srgbClr val="3E3E3E"/>
                </a:solidFill>
                <a:latin typeface="Consolas" panose="020B0609020204030204" pitchFamily="49" charset="0"/>
              </a:rPr>
              <a:t>images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DAA6962-FF48-37D7-7771-216353255C21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7524750" y="2762250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E93943-B706-16DD-9450-9E617B1E51E6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8858250" y="2762250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3C03A8-D940-B94F-83B2-CCD1E3B0A859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10191750" y="2762250"/>
            <a:ext cx="142875" cy="0"/>
          </a:xfrm>
          <a:prstGeom prst="straightConnector1">
            <a:avLst/>
          </a:prstGeom>
          <a:ln w="19050">
            <a:solidFill>
              <a:srgbClr val="F15A24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7" name="docker-command-flow">
            <a:extLst>
              <a:ext uri="{FF2B5EF4-FFF2-40B4-BE49-F238E27FC236}">
                <a16:creationId xmlns:a16="http://schemas.microsoft.com/office/drawing/2014/main" id="{2EB53FFE-AF7A-D4E2-0F2F-6C9B49F75361}"/>
              </a:ext>
            </a:extLst>
          </p:cNvPr>
          <p:cNvSpPr>
            <a:spLocks noGrp="1"/>
          </p:cNvSpPr>
          <p:nvPr/>
        </p:nvSpPr>
        <p:spPr>
          <a:xfrm>
            <a:off x="6429375" y="4000500"/>
            <a:ext cx="5048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D8CC9"/>
                </a:solidFill>
              </a:defRPr>
            </a:pPr>
            <a:r>
              <a:rPr sz="1200" b="1" dirty="0">
                <a:solidFill>
                  <a:srgbClr val="F16122"/>
                </a:solidFill>
                <a:latin typeface="Consolas" panose="020B0609020204030204" pitchFamily="49" charset="0"/>
              </a:rPr>
              <a:t>docker build  →  docker run  →  docker push</a:t>
            </a:r>
          </a:p>
        </p:txBody>
      </p:sp>
      <p:sp>
        <p:nvSpPr>
          <p:cNvPr id="28" name="docker-runtime-note">
            <a:extLst>
              <a:ext uri="{FF2B5EF4-FFF2-40B4-BE49-F238E27FC236}">
                <a16:creationId xmlns:a16="http://schemas.microsoft.com/office/drawing/2014/main" id="{FF7BDE50-CB91-1524-E72D-8ED823E5F2E3}"/>
              </a:ext>
            </a:extLst>
          </p:cNvPr>
          <p:cNvSpPr>
            <a:spLocks noGrp="1"/>
          </p:cNvSpPr>
          <p:nvPr/>
        </p:nvSpPr>
        <p:spPr>
          <a:xfrm>
            <a:off x="6572250" y="4524375"/>
            <a:ext cx="4762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0">
                <a:solidFill>
                  <a:srgbClr val="888888"/>
                </a:solidFill>
              </a:defRPr>
            </a:pPr>
            <a:r>
              <a:rPr sz="1200" b="0" dirty="0">
                <a:solidFill>
                  <a:srgbClr val="888888"/>
                </a:solidFill>
                <a:latin typeface="Consolas" panose="020B0609020204030204" pitchFamily="49" charset="0"/>
              </a:rPr>
              <a:t>Volumes, bind mounts, ports, and resource limits connect the container to the host safely.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B253524-1BCE-859A-CCAB-458735084B08}"/>
              </a:ext>
            </a:extLst>
          </p:cNvPr>
          <p:cNvGrpSpPr/>
          <p:nvPr/>
        </p:nvGrpSpPr>
        <p:grpSpPr>
          <a:xfrm>
            <a:off x="7272550" y="5430774"/>
            <a:ext cx="3361900" cy="493776"/>
            <a:chOff x="4484791" y="2669499"/>
            <a:chExt cx="3361900" cy="49377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B4AABD9-0BCB-DE9A-4668-63E6EEB861DF}"/>
                </a:ext>
              </a:extLst>
            </p:cNvPr>
            <p:cNvSpPr txBox="1"/>
            <p:nvPr/>
          </p:nvSpPr>
          <p:spPr>
            <a:xfrm>
              <a:off x="5286375" y="2669499"/>
              <a:ext cx="256031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>
                  <a:latin typeface="Consolas" panose="020B0609020204030204" pitchFamily="49" charset="0"/>
                  <a:hlinkClick r:id="rId3" action="ppaction://hlinkfile"/>
                </a:rPr>
                <a:t>Docker-101.md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31" name="Picture 30" descr="File:Markdown-mark.svg">
              <a:extLst>
                <a:ext uri="{FF2B5EF4-FFF2-40B4-BE49-F238E27FC236}">
                  <a16:creationId xmlns:a16="http://schemas.microsoft.com/office/drawing/2014/main" id="{048584FC-A582-C29B-A826-FA2BA5C90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3041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August 26,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Props1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33859</TotalTime>
  <Words>342</Words>
  <Application>Microsoft Office PowerPoint</Application>
  <PresentationFormat>Widescreen</PresentationFormat>
  <Paragraphs>139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Consolas</vt:lpstr>
      <vt:lpstr>Wingdings 2</vt:lpstr>
      <vt:lpstr>Wingdings 3</vt:lpstr>
      <vt:lpstr>ARMLab CU-ICAR</vt:lpstr>
      <vt:lpstr>LAB-01 Developer Onramp</vt:lpstr>
      <vt:lpstr>Lab Outline and Expected Outcomes</vt:lpstr>
      <vt:lpstr>PowerPoint Presentation</vt:lpstr>
      <vt:lpstr>Meet Linux</vt:lpstr>
      <vt:lpstr>PowerPoint Presentation</vt:lpstr>
      <vt:lpstr>Meet Git</vt:lpstr>
      <vt:lpstr>PowerPoint Presentation</vt:lpstr>
      <vt:lpstr>Meet Docker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Chinmay Samak</cp:lastModifiedBy>
  <cp:revision>287</cp:revision>
  <dcterms:created xsi:type="dcterms:W3CDTF">2020-04-29T07:35:04Z</dcterms:created>
  <dcterms:modified xsi:type="dcterms:W3CDTF">2026-08-27T01:31:53Z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